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95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275" r:id="rId12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3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302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6E40-B480-F706-D37D-6B9B5A33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1EE3-8D3D-F1FD-1A04-7BE97BBFC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7FC69-2C5A-B455-6983-A315C4F98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51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694-1BF7-A8C5-1EE5-D6DB7878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0F7AF-2A4A-B968-DA49-E946838D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ADC66-8F51-844B-E56B-EC0DADC1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667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5DB6-37BC-CC3B-B792-D32D32A3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CF471-4F37-A3EA-6FCD-189FC41F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FD666-FEBD-008B-DEDC-27FB5BC27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776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D9D0-C8A6-76D5-F542-F62D37F0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E8506-167C-C536-3E2A-3C8F13F97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4B1C5-7B08-FAAF-7BBB-7B1E7B2CD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80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C24B9-E8D7-C2AE-FAFC-C296A854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A5922-DE4E-EAAB-FC68-C32991BC0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5D5E6-C602-5B07-BF66-1D49B24F5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70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E46B-4E62-DC85-93A2-0AF28B35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CCF7D-E33F-AA82-9B3A-6EC902D7E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212C2-2B9F-042C-020E-AA5736BB7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621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663F-B0EF-478E-688D-CA07C8F8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44094-8D68-95F6-19FF-0776A96F0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8363B-FE13-5796-A466-F5AF96085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514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2F89-78A5-981B-77AE-3366E6AE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BB782-A9A5-771C-06B1-2B0ECD320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D6DD0-0A20-9526-CABC-31AAB028F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34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05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svgsilh.com/image/28741.html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911529" y="2119922"/>
            <a:ext cx="15592730" cy="6366556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Freeform 6"/>
          <p:cNvSpPr/>
          <p:nvPr/>
        </p:nvSpPr>
        <p:spPr>
          <a:xfrm>
            <a:off x="15971645" y="287439"/>
            <a:ext cx="1702690" cy="201434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Freeform 8"/>
          <p:cNvSpPr/>
          <p:nvPr/>
        </p:nvSpPr>
        <p:spPr>
          <a:xfrm>
            <a:off x="482079" y="306489"/>
            <a:ext cx="2280190" cy="20143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Freeform 10"/>
          <p:cNvSpPr/>
          <p:nvPr/>
        </p:nvSpPr>
        <p:spPr>
          <a:xfrm>
            <a:off x="3528989" y="225413"/>
            <a:ext cx="11656887" cy="209273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11"/>
          <p:cNvSpPr txBox="1"/>
          <p:nvPr/>
        </p:nvSpPr>
        <p:spPr>
          <a:xfrm>
            <a:off x="11117276" y="7618940"/>
            <a:ext cx="6259195" cy="227901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Mohan Kumar J (192424060)</a:t>
            </a:r>
          </a:p>
        </p:txBody>
      </p:sp>
      <p:sp>
        <p:nvSpPr>
          <p:cNvPr id="101" name="TextBox 12"/>
          <p:cNvSpPr txBox="1"/>
          <p:nvPr/>
        </p:nvSpPr>
        <p:spPr>
          <a:xfrm>
            <a:off x="439103" y="7955884"/>
            <a:ext cx="4132897" cy="106118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Dr. Sairam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2C6E0-7607-5651-FFBB-7B4B8FC62F69}"/>
              </a:ext>
            </a:extLst>
          </p:cNvPr>
          <p:cNvSpPr txBox="1"/>
          <p:nvPr/>
        </p:nvSpPr>
        <p:spPr>
          <a:xfrm>
            <a:off x="4572000" y="2322024"/>
            <a:ext cx="9144000" cy="1067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A776E-5B6D-F7FB-F65E-FFDA6E44F33D}"/>
              </a:ext>
            </a:extLst>
          </p:cNvPr>
          <p:cNvSpPr txBox="1"/>
          <p:nvPr/>
        </p:nvSpPr>
        <p:spPr>
          <a:xfrm>
            <a:off x="2640316" y="3531399"/>
            <a:ext cx="12804471" cy="27627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Efficiency Analysis Using Asymptotic Notations</a:t>
            </a:r>
          </a:p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Merge Sort Algorithm on Large Datasets</a:t>
            </a:r>
          </a:p>
          <a:p>
            <a:pPr algn="ctr">
              <a:lnSpc>
                <a:spcPct val="150000"/>
              </a:lnSpc>
            </a:pP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CSA0614 – Design and Analysis of Algorithm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0269-5FA0-A6C1-B4DF-07E21ED0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6">
            <a:extLst>
              <a:ext uri="{FF2B5EF4-FFF2-40B4-BE49-F238E27FC236}">
                <a16:creationId xmlns:a16="http://schemas.microsoft.com/office/drawing/2014/main" id="{D337C976-2E8E-E88E-0C96-8A5DACDB39D6}"/>
              </a:ext>
            </a:extLst>
          </p:cNvPr>
          <p:cNvSpPr txBox="1"/>
          <p:nvPr/>
        </p:nvSpPr>
        <p:spPr>
          <a:xfrm>
            <a:off x="532801" y="2266601"/>
            <a:ext cx="11240099" cy="575379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require efficient processing algorithms.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algorithms increase execution time.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the input size 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Merge Sort using asymptotic notations.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execution growth mathematically.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scalability for real-world applications.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process millions of records every day, such as </a:t>
            </a:r>
          </a:p>
          <a:p>
            <a:pPr marL="12700" marR="5080" lvl="8" indent="0" algn="just">
              <a:lnSpc>
                <a:spcPct val="150000"/>
              </a:lnSpc>
              <a:spcBef>
                <a:spcPts val="100"/>
              </a:spcBef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Student databases </a:t>
            </a:r>
          </a:p>
          <a:p>
            <a:pPr marL="12700" marR="5080" lvl="8" indent="0" algn="just">
              <a:lnSpc>
                <a:spcPct val="150000"/>
              </a:lnSpc>
              <a:spcBef>
                <a:spcPts val="100"/>
              </a:spcBef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Banking transactions</a:t>
            </a:r>
          </a:p>
          <a:p>
            <a:pPr marL="12700" marR="5080" lvl="8" indent="0" algn="just">
              <a:lnSpc>
                <a:spcPct val="150000"/>
              </a:lnSpc>
              <a:spcBef>
                <a:spcPts val="100"/>
              </a:spcBef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E-commerce products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endParaRPr lang="en-US" alt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Freeform 7">
            <a:extLst>
              <a:ext uri="{FF2B5EF4-FFF2-40B4-BE49-F238E27FC236}">
                <a16:creationId xmlns:a16="http://schemas.microsoft.com/office/drawing/2014/main" id="{A4089B77-C93E-D4E0-6075-92CEA751FB9C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43AC0BC-219E-E424-4570-F699724630AE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FC8C66-9EEA-4553-F49B-B0676EF7C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430125" y="2295699"/>
            <a:ext cx="5145023" cy="6904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09236-6DE8-C29D-36C1-D3D7F4668358}"/>
              </a:ext>
            </a:extLst>
          </p:cNvPr>
          <p:cNvSpPr txBox="1"/>
          <p:nvPr/>
        </p:nvSpPr>
        <p:spPr>
          <a:xfrm>
            <a:off x="5972175" y="632338"/>
            <a:ext cx="634365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BE151-F40F-169E-F70B-D4E030B687E1}"/>
              </a:ext>
            </a:extLst>
          </p:cNvPr>
          <p:cNvSpPr txBox="1"/>
          <p:nvPr/>
        </p:nvSpPr>
        <p:spPr>
          <a:xfrm>
            <a:off x="532801" y="8225534"/>
            <a:ext cx="9144000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efficiency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asymptotic notations and evaluate its performance on different input sizes.</a:t>
            </a:r>
          </a:p>
        </p:txBody>
      </p:sp>
    </p:spTree>
    <p:extLst>
      <p:ext uri="{BB962C8B-B14F-4D97-AF65-F5344CB8AC3E}">
        <p14:creationId xmlns:p14="http://schemas.microsoft.com/office/powerpoint/2010/main" val="13008419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9EAD-F393-589C-D116-8DEE3077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4BC1FB4C-EC0B-F486-733A-FEB502F71E7D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84B0D7B-A807-CE24-E5C3-C462EE73C60C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A7437-0B2C-A73D-CD07-FA371B84BBF2}"/>
              </a:ext>
            </a:extLst>
          </p:cNvPr>
          <p:cNvSpPr txBox="1"/>
          <p:nvPr/>
        </p:nvSpPr>
        <p:spPr>
          <a:xfrm>
            <a:off x="5972175" y="632338"/>
            <a:ext cx="634365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F0EDA-A7C5-7ACC-8CE6-E3D804B94BE0}"/>
              </a:ext>
            </a:extLst>
          </p:cNvPr>
          <p:cNvSpPr txBox="1"/>
          <p:nvPr/>
        </p:nvSpPr>
        <p:spPr>
          <a:xfrm>
            <a:off x="1089218" y="2820085"/>
            <a:ext cx="9144000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follows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55F74-878D-2E28-6070-E9DF9411D4BD}"/>
              </a:ext>
            </a:extLst>
          </p:cNvPr>
          <p:cNvSpPr txBox="1"/>
          <p:nvPr/>
        </p:nvSpPr>
        <p:spPr>
          <a:xfrm>
            <a:off x="1089218" y="3946003"/>
            <a:ext cx="9144000" cy="2062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array into two halves.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sort both halves.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the sorted halves.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the complete array is sorted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08328-9379-E017-52DF-E62E6E93E79A}"/>
              </a:ext>
            </a:extLst>
          </p:cNvPr>
          <p:cNvSpPr txBox="1"/>
          <p:nvPr/>
        </p:nvSpPr>
        <p:spPr>
          <a:xfrm>
            <a:off x="1089218" y="6179916"/>
            <a:ext cx="9144000" cy="24314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sorting algorithm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algorithm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performance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external sorting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050A18-A820-6F0C-08DB-7F358776C12B}"/>
              </a:ext>
            </a:extLst>
          </p:cNvPr>
          <p:cNvSpPr txBox="1"/>
          <p:nvPr/>
        </p:nvSpPr>
        <p:spPr>
          <a:xfrm>
            <a:off x="3800475" y="8870630"/>
            <a:ext cx="9144000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Divide and Conquer Approach in Programming">
            <a:extLst>
              <a:ext uri="{FF2B5EF4-FFF2-40B4-BE49-F238E27FC236}">
                <a16:creationId xmlns:a16="http://schemas.microsoft.com/office/drawing/2014/main" id="{7ED1CD15-82BD-C1B9-D478-06B264A58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400" y="2542835"/>
            <a:ext cx="7010400" cy="753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7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3573-BAAF-117B-8AFA-2B229BFD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D4ED60DF-F54D-867F-22E2-90EE1D639624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5A8D5E9-A892-D3C3-1E19-90FD0581701B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1A1AE-8B56-6D1F-DC35-E50778508880}"/>
              </a:ext>
            </a:extLst>
          </p:cNvPr>
          <p:cNvSpPr txBox="1"/>
          <p:nvPr/>
        </p:nvSpPr>
        <p:spPr>
          <a:xfrm>
            <a:off x="5846955" y="625112"/>
            <a:ext cx="877252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/ Pseudo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71BC8-2AE9-43C9-2A5A-57EA771EA143}"/>
              </a:ext>
            </a:extLst>
          </p:cNvPr>
          <p:cNvSpPr txBox="1"/>
          <p:nvPr/>
        </p:nvSpPr>
        <p:spPr>
          <a:xfrm>
            <a:off x="1285876" y="2854861"/>
            <a:ext cx="9144000" cy="338554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Algorithm:</a:t>
            </a:r>
          </a:p>
          <a:p>
            <a:pPr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array into two halves.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sort the left half.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sort the right half.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elements while merging.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smaller elements first.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the array is fully sorted.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5945D-0237-F7EF-F816-B5F5948A9BA0}"/>
              </a:ext>
            </a:extLst>
          </p:cNvPr>
          <p:cNvSpPr txBox="1"/>
          <p:nvPr/>
        </p:nvSpPr>
        <p:spPr>
          <a:xfrm>
            <a:off x="1089218" y="6778713"/>
            <a:ext cx="9144000" cy="3231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l, r)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 &lt; 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mid =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l+r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)/2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A,l,mid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(A,mid+1,r)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Merge(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A,l,mid,r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1" name="Picture 10" descr="recursion tree method.pdf">
            <a:extLst>
              <a:ext uri="{FF2B5EF4-FFF2-40B4-BE49-F238E27FC236}">
                <a16:creationId xmlns:a16="http://schemas.microsoft.com/office/drawing/2014/main" id="{28FC93BE-5A22-BBD8-7C3E-D5821D8BC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838" y="2571750"/>
            <a:ext cx="10287000" cy="771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96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A680-4220-727B-512A-74FD4B5B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79CF38D2-EC58-95A5-EF71-DD839FB62465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D8FEF831-0F84-7457-BE80-534D673D6464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944A0-BA9D-CEB4-6D5D-8280681CA65D}"/>
              </a:ext>
            </a:extLst>
          </p:cNvPr>
          <p:cNvSpPr txBox="1"/>
          <p:nvPr/>
        </p:nvSpPr>
        <p:spPr>
          <a:xfrm>
            <a:off x="5429251" y="625112"/>
            <a:ext cx="919023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 (Dry Run)</a:t>
            </a:r>
          </a:p>
        </p:txBody>
      </p:sp>
      <p:pic>
        <p:nvPicPr>
          <p:cNvPr id="2" name="Picture 1" descr="0-CS6515_IntroGraduateAlgorithms">
            <a:extLst>
              <a:ext uri="{FF2B5EF4-FFF2-40B4-BE49-F238E27FC236}">
                <a16:creationId xmlns:a16="http://schemas.microsoft.com/office/drawing/2014/main" id="{0B129170-916C-1CE5-6547-BCACA4726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836" y="2703641"/>
            <a:ext cx="10487025" cy="75833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BDF3B6-4AE6-0BAD-1BA1-D531C19D2747}"/>
              </a:ext>
            </a:extLst>
          </p:cNvPr>
          <p:cNvSpPr txBox="1"/>
          <p:nvPr/>
        </p:nvSpPr>
        <p:spPr>
          <a:xfrm>
            <a:off x="2671763" y="2071688"/>
            <a:ext cx="5886450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Array: </a:t>
            </a:r>
            <a:r>
              <a:rPr kumimoji="0" lang="en-US" sz="2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arr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[]= 16, 10, 8, 15, 14, 30, 29</a:t>
            </a:r>
            <a:endParaRPr kumimoji="0" lang="en-I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6646878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58BF-A152-56A6-983A-E933F848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F55D04EA-AA4F-9955-0085-F5CA549DAEC7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F7FB261-469B-0AE8-EA2D-8D85208D8B67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B52F1-0122-EBBA-4F60-8B81891940DE}"/>
              </a:ext>
            </a:extLst>
          </p:cNvPr>
          <p:cNvSpPr txBox="1"/>
          <p:nvPr/>
        </p:nvSpPr>
        <p:spPr>
          <a:xfrm>
            <a:off x="5429251" y="625112"/>
            <a:ext cx="919023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DAE80-157E-B9C8-8742-A83F445FE6A8}"/>
              </a:ext>
            </a:extLst>
          </p:cNvPr>
          <p:cNvSpPr txBox="1"/>
          <p:nvPr/>
        </p:nvSpPr>
        <p:spPr>
          <a:xfrm>
            <a:off x="1800225" y="3062972"/>
            <a:ext cx="9144000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 log 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 log 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 log 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2T(n/2)+n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49C1F-4788-7F9E-F0A9-0DA0F3FF2177}"/>
              </a:ext>
            </a:extLst>
          </p:cNvPr>
          <p:cNvSpPr txBox="1"/>
          <p:nvPr/>
        </p:nvSpPr>
        <p:spPr>
          <a:xfrm>
            <a:off x="1800225" y="6537680"/>
            <a:ext cx="9144000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Analysis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2T(n/2) + 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Master Theorem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</a:p>
          <a:p>
            <a:pPr lvl="4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2</a:t>
            </a:r>
          </a:p>
          <a:p>
            <a:pPr lvl="4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n	</a:t>
            </a:r>
            <a:b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</a:p>
          <a:p>
            <a:pPr lvl="4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O(n log n)</a:t>
            </a:r>
          </a:p>
        </p:txBody>
      </p:sp>
      <p:pic>
        <p:nvPicPr>
          <p:cNvPr id="8" name="Picture 7" descr="Sorting And Searching Algorithms - Time Complexities Cheat Sheet ...">
            <a:extLst>
              <a:ext uri="{FF2B5EF4-FFF2-40B4-BE49-F238E27FC236}">
                <a16:creationId xmlns:a16="http://schemas.microsoft.com/office/drawing/2014/main" id="{338ACE89-D732-8192-14E9-07931DE54D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50" t="2620" r="1474" b="2879"/>
          <a:stretch>
            <a:fillRect/>
          </a:stretch>
        </p:blipFill>
        <p:spPr>
          <a:xfrm>
            <a:off x="7329487" y="3508729"/>
            <a:ext cx="10740037" cy="605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387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6BCD-E323-A5C4-7998-B882E727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482D3488-F3A9-B4F1-7B58-DBA21455B402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BCFC0277-65CA-76B9-270E-7AFD922842D0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6B612-134A-8B6F-C6E3-53D5DFB0D1A8}"/>
              </a:ext>
            </a:extLst>
          </p:cNvPr>
          <p:cNvSpPr txBox="1"/>
          <p:nvPr/>
        </p:nvSpPr>
        <p:spPr>
          <a:xfrm>
            <a:off x="5429251" y="625112"/>
            <a:ext cx="919023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E987D2-ACAE-9999-AEFC-F3A49BCE8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320024"/>
              </p:ext>
            </p:extLst>
          </p:nvPr>
        </p:nvGraphicFramePr>
        <p:xfrm>
          <a:off x="1532130" y="2734628"/>
          <a:ext cx="13912655" cy="3169570"/>
        </p:xfrm>
        <a:graphic>
          <a:graphicData uri="http://schemas.openxmlformats.org/drawingml/2006/table">
            <a:tbl>
              <a:tblPr/>
              <a:tblGrid>
                <a:gridCol w="2782531">
                  <a:extLst>
                    <a:ext uri="{9D8B030D-6E8A-4147-A177-3AD203B41FA5}">
                      <a16:colId xmlns:a16="http://schemas.microsoft.com/office/drawing/2014/main" val="2881337483"/>
                    </a:ext>
                  </a:extLst>
                </a:gridCol>
                <a:gridCol w="2782531">
                  <a:extLst>
                    <a:ext uri="{9D8B030D-6E8A-4147-A177-3AD203B41FA5}">
                      <a16:colId xmlns:a16="http://schemas.microsoft.com/office/drawing/2014/main" val="2099137758"/>
                    </a:ext>
                  </a:extLst>
                </a:gridCol>
                <a:gridCol w="2782531">
                  <a:extLst>
                    <a:ext uri="{9D8B030D-6E8A-4147-A177-3AD203B41FA5}">
                      <a16:colId xmlns:a16="http://schemas.microsoft.com/office/drawing/2014/main" val="3498369853"/>
                    </a:ext>
                  </a:extLst>
                </a:gridCol>
                <a:gridCol w="2782531">
                  <a:extLst>
                    <a:ext uri="{9D8B030D-6E8A-4147-A177-3AD203B41FA5}">
                      <a16:colId xmlns:a16="http://schemas.microsoft.com/office/drawing/2014/main" val="3568873560"/>
                    </a:ext>
                  </a:extLst>
                </a:gridCol>
                <a:gridCol w="2782531">
                  <a:extLst>
                    <a:ext uri="{9D8B030D-6E8A-4147-A177-3AD203B41FA5}">
                      <a16:colId xmlns:a16="http://schemas.microsoft.com/office/drawing/2014/main" val="1269130591"/>
                    </a:ext>
                  </a:extLst>
                </a:gridCol>
              </a:tblGrid>
              <a:tr h="51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455134"/>
                  </a:ext>
                </a:extLst>
              </a:tr>
              <a:tr h="51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Bubble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264430"/>
                  </a:ext>
                </a:extLst>
              </a:tr>
              <a:tr h="51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381466"/>
                  </a:ext>
                </a:extLst>
              </a:tr>
              <a:tr h="51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234203"/>
                  </a:ext>
                </a:extLst>
              </a:tr>
              <a:tr h="51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9627"/>
                  </a:ext>
                </a:extLst>
              </a:tr>
              <a:tr h="518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1069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E904612-22DD-4E19-1E39-CD7DBF78597C}"/>
              </a:ext>
            </a:extLst>
          </p:cNvPr>
          <p:cNvSpPr txBox="1"/>
          <p:nvPr/>
        </p:nvSpPr>
        <p:spPr>
          <a:xfrm>
            <a:off x="6300785" y="6553345"/>
            <a:ext cx="9144000" cy="3108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gives consistent performance.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than quadratic algorithms.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datasets.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sorting algorithm.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execution time.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external sorting.</a:t>
            </a:r>
          </a:p>
        </p:txBody>
      </p:sp>
    </p:spTree>
    <p:extLst>
      <p:ext uri="{BB962C8B-B14F-4D97-AF65-F5344CB8AC3E}">
        <p14:creationId xmlns:p14="http://schemas.microsoft.com/office/powerpoint/2010/main" val="32487571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62A5-875A-F292-20DB-8D321875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A86AF761-56C4-DB28-4502-44A33E5AA930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8EF31CF9-13E1-4CB5-F826-99EF4FEDEE64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7D4B5-C595-2CC7-FFFC-4D9816AA60FD}"/>
              </a:ext>
            </a:extLst>
          </p:cNvPr>
          <p:cNvSpPr txBox="1"/>
          <p:nvPr/>
        </p:nvSpPr>
        <p:spPr>
          <a:xfrm>
            <a:off x="5429251" y="625112"/>
            <a:ext cx="919023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DAE8D-AEA1-E75C-393F-E339757D057E}"/>
              </a:ext>
            </a:extLst>
          </p:cNvPr>
          <p:cNvSpPr txBox="1"/>
          <p:nvPr/>
        </p:nvSpPr>
        <p:spPr>
          <a:xfrm>
            <a:off x="1089218" y="3116471"/>
            <a:ext cx="9144000" cy="5262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millions of records.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indexed web pages.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transaction histories.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listing based on price and rating.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large datasets before analysis.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File Sorting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Used when data exceeds RAM capacity</a:t>
            </a:r>
          </a:p>
        </p:txBody>
      </p:sp>
      <p:pic>
        <p:nvPicPr>
          <p:cNvPr id="5" name="Picture 4" descr="Database Management">
            <a:extLst>
              <a:ext uri="{FF2B5EF4-FFF2-40B4-BE49-F238E27FC236}">
                <a16:creationId xmlns:a16="http://schemas.microsoft.com/office/drawing/2014/main" id="{FF2AA015-66A9-AC6E-571F-9AF7A633C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925" y="2361860"/>
            <a:ext cx="7715250" cy="771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9405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4CA76-8565-BD3E-F779-6E978745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F511B0F2-2A33-7EB8-952F-FEC1C288A638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67EFE22-25FD-BBE1-B5C7-846D4FEB27B7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917A4-C6CE-7893-BF92-54A10599E5F1}"/>
              </a:ext>
            </a:extLst>
          </p:cNvPr>
          <p:cNvSpPr txBox="1"/>
          <p:nvPr/>
        </p:nvSpPr>
        <p:spPr>
          <a:xfrm>
            <a:off x="5429251" y="625112"/>
            <a:ext cx="919023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A1DDE-BD4A-7924-09FF-38E1BA3E69A0}"/>
              </a:ext>
            </a:extLst>
          </p:cNvPr>
          <p:cNvSpPr txBox="1"/>
          <p:nvPr/>
        </p:nvSpPr>
        <p:spPr>
          <a:xfrm>
            <a:off x="1500187" y="3008750"/>
            <a:ext cx="9144000" cy="3231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follows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increases gradually.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large input sizes.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additional memory during merging.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than O(n²) algorithms.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large-scale systems.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05C76-712C-2809-78B4-A279391A27D9}"/>
              </a:ext>
            </a:extLst>
          </p:cNvPr>
          <p:cNvSpPr txBox="1"/>
          <p:nvPr/>
        </p:nvSpPr>
        <p:spPr>
          <a:xfrm>
            <a:off x="1500187" y="6499563"/>
            <a:ext cx="9144000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efficiently processes large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 improves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remains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predicts scalability.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analysis validates efficiency.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real-world applications.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292453-03C1-56E6-2781-E5D86B93C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5600" y="3532873"/>
            <a:ext cx="8697494" cy="612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9717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7ED87-8DC8-D78B-3124-D1D8D646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C313FBDD-F4B7-FD69-0279-4A3EF99CF484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440262F6-EADD-0A1C-7040-2558603EBB17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F9C12-3156-56E1-BFAD-9762E2481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7150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379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6"/>
          <p:cNvSpPr/>
          <p:nvPr/>
        </p:nvSpPr>
        <p:spPr>
          <a:xfrm>
            <a:off x="3936302" y="4648619"/>
            <a:ext cx="10799445" cy="15573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5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ctr" eaLnBrk="0">
              <a:lnSpc>
                <a:spcPct val="69000"/>
              </a:lnSpc>
            </a:pPr>
            <a:r>
              <a:rPr sz="14400" spc="-60" dirty="0">
                <a:solidFill>
                  <a:srgbClr val="000000">
                    <a:alpha val="100000"/>
                  </a:srgbClr>
                </a:solidFill>
                <a:latin typeface="Algerian" panose="04020705040A02060702" pitchFamily="82" charset="0"/>
                <a:ea typeface="Times New Roman" panose="02020603050405020304"/>
                <a:cs typeface="Times New Roman" panose="02020603050405020304"/>
              </a:rPr>
              <a:t>THANK YOU</a:t>
            </a:r>
            <a:endParaRPr sz="14400" dirty="0">
              <a:latin typeface="Algerian" panose="04020705040A02060702" pitchFamily="82" charset="0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83091" y="390792"/>
            <a:ext cx="2295254" cy="2295255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3504" y="319352"/>
            <a:ext cx="1920572" cy="2438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693</Words>
  <Application>Microsoft Office PowerPoint</Application>
  <PresentationFormat>Custom</PresentationFormat>
  <Paragraphs>138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VISWA SANKAR</dc:creator>
  <cp:keywords>VENKATA PRASADH REDDY</cp:keywords>
  <cp:lastModifiedBy>Mohan Kumar</cp:lastModifiedBy>
  <cp:revision>88</cp:revision>
  <dcterms:created xsi:type="dcterms:W3CDTF">2026-06-14T12:15:00Z</dcterms:created>
  <dcterms:modified xsi:type="dcterms:W3CDTF">2026-08-07T03:04:47Z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51D6A701CB77437C81B89BB90DA8A435_13</vt:lpwstr>
  </property>
</Properties>
</file>